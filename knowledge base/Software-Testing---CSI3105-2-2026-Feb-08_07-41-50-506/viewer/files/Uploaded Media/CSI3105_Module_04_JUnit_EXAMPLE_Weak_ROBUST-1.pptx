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9" r:id="rId1"/>
  </p:sldMasterIdLst>
  <p:notesMasterIdLst>
    <p:notesMasterId r:id="rId13"/>
  </p:notesMasterIdLst>
  <p:handoutMasterIdLst>
    <p:handoutMasterId r:id="rId14"/>
  </p:handoutMasterIdLst>
  <p:sldIdLst>
    <p:sldId id="791" r:id="rId2"/>
    <p:sldId id="757" r:id="rId3"/>
    <p:sldId id="792" r:id="rId4"/>
    <p:sldId id="793" r:id="rId5"/>
    <p:sldId id="794" r:id="rId6"/>
    <p:sldId id="795" r:id="rId7"/>
    <p:sldId id="796" r:id="rId8"/>
    <p:sldId id="797" r:id="rId9"/>
    <p:sldId id="798" r:id="rId10"/>
    <p:sldId id="799" r:id="rId11"/>
    <p:sldId id="800" r:id="rId1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8B4C3"/>
    <a:srgbClr val="FCE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5226" autoAdjust="0"/>
  </p:normalViewPr>
  <p:slideViewPr>
    <p:cSldViewPr snapToGrid="0" snapToObjects="1">
      <p:cViewPr>
        <p:scale>
          <a:sx n="100" d="100"/>
          <a:sy n="100" d="100"/>
        </p:scale>
        <p:origin x="90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6" d="100"/>
          <a:sy n="126" d="100"/>
        </p:scale>
        <p:origin x="251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203B3-A0E4-0F4B-B1B6-74A4145EFC5A}" type="datetimeFigureOut">
              <a:rPr lang="en-US" smtClean="0"/>
              <a:t>3/20/2023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5BC3C-2385-1947-9105-333D8DF00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74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134E8-B235-5A4A-886D-94062B59BC60}" type="datetimeFigureOut">
              <a:rPr lang="en-US" smtClean="0"/>
              <a:t>3/20/2023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598F4-E49E-0C4A-95A0-3D4224C6B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772DE0-A19C-4245-86C7-48F0AFB112D9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06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ver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13702" y="3511274"/>
            <a:ext cx="4483904" cy="1348199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spcAft>
                <a:spcPts val="450"/>
              </a:spcAft>
              <a:defRPr sz="2100" b="1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Cover Option A: Click to add heading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76367" y="133164"/>
            <a:ext cx="2025592" cy="6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8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ver Option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0" y="670422"/>
            <a:ext cx="9144000" cy="760768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350"/>
          </a:p>
        </p:txBody>
      </p: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286678" y="669946"/>
            <a:ext cx="8570645" cy="761244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Aft>
                <a:spcPts val="450"/>
              </a:spcAft>
              <a:defRPr sz="2100" b="1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Cover Option B without sub heading: Click to add heading</a:t>
            </a:r>
          </a:p>
        </p:txBody>
      </p:sp>
      <p:sp>
        <p:nvSpPr>
          <p:cNvPr id="17" name="Picture Placeholder 16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0" y="1431190"/>
            <a:ext cx="9144000" cy="3712310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200" b="0"/>
            </a:lvl1pPr>
          </a:lstStyle>
          <a:p>
            <a:r>
              <a:rPr lang="en-US" dirty="0"/>
              <a:t>Click this icon to insert image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26462" y="0"/>
            <a:ext cx="2017538" cy="66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7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ver Option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0" y="670422"/>
            <a:ext cx="9144000" cy="760768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35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86678" y="669946"/>
            <a:ext cx="8570645" cy="505396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Aft>
                <a:spcPts val="450"/>
              </a:spcAft>
              <a:defRPr sz="2100" b="1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Cover Option B with sub heading: Click to add heading</a:t>
            </a:r>
          </a:p>
        </p:txBody>
      </p:sp>
      <p:sp>
        <p:nvSpPr>
          <p:cNvPr id="5" name="Picture Placeholder 16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0" y="1431190"/>
            <a:ext cx="9144000" cy="3712310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200" b="0"/>
            </a:lvl1pPr>
          </a:lstStyle>
          <a:p>
            <a:r>
              <a:rPr lang="en-US" dirty="0"/>
              <a:t>Click this icon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86678" y="1077374"/>
            <a:ext cx="8570645" cy="299311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add sub heading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26462" y="0"/>
            <a:ext cx="2017538" cy="66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5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ver Opti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5067058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200" b="0" baseline="0"/>
            </a:lvl1pPr>
          </a:lstStyle>
          <a:p>
            <a:r>
              <a:rPr lang="en-US" dirty="0"/>
              <a:t>Click this icon to insert image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5285950" y="2254509"/>
            <a:ext cx="3608239" cy="928217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Aft>
                <a:spcPts val="450"/>
              </a:spcAft>
              <a:defRPr sz="2100" b="1" baseline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Cover Option C:</a:t>
            </a:r>
            <a:br>
              <a:rPr lang="en-US" dirty="0"/>
            </a:br>
            <a:r>
              <a:rPr lang="en-US" dirty="0"/>
              <a:t>Click to add heading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286457" y="3219450"/>
            <a:ext cx="3607831" cy="64611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 heading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3040" y="139215"/>
            <a:ext cx="2017538" cy="66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4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98" y="889907"/>
            <a:ext cx="6198340" cy="374281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Picture 13" descr="ECU_AUS_logo_C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499" y="-2381"/>
            <a:ext cx="911501" cy="67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-1" y="0"/>
            <a:ext cx="8232499" cy="669946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350">
              <a:solidFill>
                <a:schemeClr val="accent5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45798" y="-2381"/>
            <a:ext cx="7886700" cy="672327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 column text only slide. Click to add title. </a:t>
            </a:r>
          </a:p>
        </p:txBody>
      </p:sp>
    </p:spTree>
    <p:extLst>
      <p:ext uri="{BB962C8B-B14F-4D97-AF65-F5344CB8AC3E}">
        <p14:creationId xmlns:p14="http://schemas.microsoft.com/office/powerpoint/2010/main" val="150004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99" y="889907"/>
            <a:ext cx="3886200" cy="374281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9960" y="889907"/>
            <a:ext cx="3886200" cy="374281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13" descr="ECU_AUS_logo_C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499" y="-2381"/>
            <a:ext cx="911501" cy="67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>
            <a:spLocks noChangeArrowheads="1"/>
          </p:cNvSpPr>
          <p:nvPr userDrawn="1"/>
        </p:nvSpPr>
        <p:spPr bwMode="auto">
          <a:xfrm>
            <a:off x="-1" y="0"/>
            <a:ext cx="8232499" cy="669946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35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45799" y="-2381"/>
            <a:ext cx="7886700" cy="672327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 column text only slide. Click to add title. </a:t>
            </a:r>
          </a:p>
        </p:txBody>
      </p:sp>
    </p:spTree>
    <p:extLst>
      <p:ext uri="{BB962C8B-B14F-4D97-AF65-F5344CB8AC3E}">
        <p14:creationId xmlns:p14="http://schemas.microsoft.com/office/powerpoint/2010/main" val="179148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text +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351302" y="889907"/>
            <a:ext cx="3886200" cy="374281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13" descr="ECU_AUS_logo_C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499" y="-2381"/>
            <a:ext cx="911501" cy="67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>
            <a:spLocks noChangeArrowheads="1"/>
          </p:cNvSpPr>
          <p:nvPr userDrawn="1"/>
        </p:nvSpPr>
        <p:spPr bwMode="auto">
          <a:xfrm>
            <a:off x="0" y="0"/>
            <a:ext cx="8232499" cy="669946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35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45799" y="-2381"/>
            <a:ext cx="7886700" cy="672327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 column: text with image on right. Click to add title.</a:t>
            </a:r>
          </a:p>
        </p:txBody>
      </p:sp>
      <p:sp>
        <p:nvSpPr>
          <p:cNvPr id="17" name="Picture Placeholder 16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852689" y="889398"/>
            <a:ext cx="3886200" cy="3743324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200" b="0"/>
            </a:lvl1pPr>
          </a:lstStyle>
          <a:p>
            <a:r>
              <a:rPr lang="en-US" dirty="0"/>
              <a:t>Click this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4892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text +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6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51302" y="889398"/>
            <a:ext cx="3886200" cy="3743324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200" b="0"/>
            </a:lvl1pPr>
          </a:lstStyle>
          <a:p>
            <a:r>
              <a:rPr lang="en-US" dirty="0"/>
              <a:t>Click this icon to insert image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852689" y="889907"/>
            <a:ext cx="3886200" cy="374281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13" descr="ECU_AUS_logo_C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499" y="-2381"/>
            <a:ext cx="911501" cy="67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>
            <a:spLocks noChangeArrowheads="1"/>
          </p:cNvSpPr>
          <p:nvPr userDrawn="1"/>
        </p:nvSpPr>
        <p:spPr bwMode="auto">
          <a:xfrm>
            <a:off x="-1" y="0"/>
            <a:ext cx="8232499" cy="669946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35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45799" y="-2381"/>
            <a:ext cx="7886700" cy="672327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 column: text with image on left. Click to add title.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4" name="Picture 13" descr="ECU_AUS_logo_C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499" y="-2381"/>
            <a:ext cx="911501" cy="67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074664"/>
            <a:ext cx="7886700" cy="994172"/>
          </a:xfrm>
        </p:spPr>
        <p:txBody>
          <a:bodyPr>
            <a:normAutofit/>
          </a:bodyPr>
          <a:lstStyle>
            <a:lvl1pPr algn="ctr"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cover: click to add heading</a:t>
            </a:r>
          </a:p>
        </p:txBody>
      </p:sp>
    </p:spTree>
    <p:extLst>
      <p:ext uri="{BB962C8B-B14F-4D97-AF65-F5344CB8AC3E}">
        <p14:creationId xmlns:p14="http://schemas.microsoft.com/office/powerpoint/2010/main" val="30316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 algn="ctr"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723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913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40808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3" r:id="rId2"/>
    <p:sldLayoutId id="2147483675" r:id="rId3"/>
    <p:sldLayoutId id="2147483655" r:id="rId4"/>
    <p:sldLayoutId id="2147483672" r:id="rId5"/>
    <p:sldLayoutId id="2147483652" r:id="rId6"/>
    <p:sldLayoutId id="2147483654" r:id="rId7"/>
    <p:sldLayoutId id="2147483674" r:id="rId8"/>
    <p:sldLayoutId id="2147483658" r:id="rId9"/>
    <p:sldLayoutId id="2147483677" r:id="rId10"/>
    <p:sldLayoutId id="2147483678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CSI3105:</a:t>
            </a:r>
            <a:br>
              <a:rPr lang="en-AU" dirty="0"/>
            </a:br>
            <a:r>
              <a:rPr lang="en-AU" dirty="0"/>
              <a:t>Software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sz="half" idx="4294967295"/>
          </p:nvPr>
        </p:nvSpPr>
        <p:spPr>
          <a:xfrm>
            <a:off x="0" y="890588"/>
            <a:ext cx="6197600" cy="3741737"/>
          </a:xfrm>
        </p:spPr>
        <p:txBody>
          <a:bodyPr>
            <a:normAutofit/>
          </a:bodyPr>
          <a:lstStyle/>
          <a:p>
            <a:r>
              <a:rPr lang="en-AU" sz="2800" dirty="0"/>
              <a:t>Module 4: BVA + EP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32A2B-A986-ADAE-E9A2-EE8AB7195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922" y="3243302"/>
            <a:ext cx="3088416" cy="16161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DACFE6-2E91-A041-7FD0-2F05A996A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458" y="1114096"/>
            <a:ext cx="1365348" cy="164736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D0920A-6101-D0AC-8E33-52D7880AA081}"/>
              </a:ext>
            </a:extLst>
          </p:cNvPr>
          <p:cNvCxnSpPr/>
          <p:nvPr/>
        </p:nvCxnSpPr>
        <p:spPr>
          <a:xfrm flipH="1">
            <a:off x="4997606" y="1645920"/>
            <a:ext cx="2183951" cy="2053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1F281E-33EB-F679-D48C-14B2959CDA80}"/>
              </a:ext>
            </a:extLst>
          </p:cNvPr>
          <p:cNvCxnSpPr/>
          <p:nvPr/>
        </p:nvCxnSpPr>
        <p:spPr>
          <a:xfrm flipH="1">
            <a:off x="5086350" y="1511300"/>
            <a:ext cx="2341782" cy="2381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51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Content Placeholder 2"/>
          <p:cNvSpPr>
            <a:spLocks noGrp="1"/>
          </p:cNvSpPr>
          <p:nvPr>
            <p:ph sz="half" idx="1"/>
          </p:nvPr>
        </p:nvSpPr>
        <p:spPr>
          <a:xfrm>
            <a:off x="345798" y="889907"/>
            <a:ext cx="5566052" cy="3742815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400" dirty="0"/>
              <a:t>The purpose of this method is to determine whether three double values entered by the user represent the sides of an isosceles triangle or not. An isosceles triangle is a triangle that has two sides of equal length. The program takes in three double values between 2 and 20 from the user and checks whether the triangle is isosceles or not.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400" dirty="0"/>
              <a:t>The program should output </a:t>
            </a:r>
          </a:p>
          <a:p>
            <a:pPr marL="685800" lvl="1"/>
            <a:r>
              <a:rPr lang="en-AU" sz="1400" b="1" dirty="0"/>
              <a:t>"This triangle is Isosceles!" </a:t>
            </a:r>
            <a:r>
              <a:rPr lang="en-AU" sz="1400" dirty="0"/>
              <a:t>if the triangle is isosceles</a:t>
            </a:r>
          </a:p>
          <a:p>
            <a:pPr marL="685800" lvl="1"/>
            <a:r>
              <a:rPr lang="en-AU" sz="1400" b="1" dirty="0"/>
              <a:t>"This is an inferior triangle" </a:t>
            </a:r>
            <a:r>
              <a:rPr lang="en-AU" sz="1400" dirty="0"/>
              <a:t>if it is not isosceles.</a:t>
            </a:r>
          </a:p>
          <a:p>
            <a:pPr marL="685800" lvl="1"/>
            <a:r>
              <a:rPr lang="en-AU" sz="1400" b="1" dirty="0"/>
              <a:t>"Please enter valid numeric lengths between 2 and 20. " </a:t>
            </a:r>
            <a:r>
              <a:rPr lang="en-AU" sz="1400" dirty="0"/>
              <a:t>if the numbers are out of range</a:t>
            </a:r>
          </a:p>
          <a:p>
            <a:endParaRPr lang="en-AU" dirty="0"/>
          </a:p>
        </p:txBody>
      </p:sp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FEEED-C074-51E6-F3A5-F54626172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00" y="1414855"/>
            <a:ext cx="2667000" cy="321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74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Content Placeholder 2"/>
          <p:cNvSpPr>
            <a:spLocks noGrp="1"/>
          </p:cNvSpPr>
          <p:nvPr>
            <p:ph sz="half" idx="1"/>
          </p:nvPr>
        </p:nvSpPr>
        <p:spPr>
          <a:xfrm>
            <a:off x="345798" y="889907"/>
            <a:ext cx="5566052" cy="3742815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400" dirty="0"/>
              <a:t>The purpose of this method is to determine whether </a:t>
            </a:r>
            <a:r>
              <a:rPr lang="en-AU" sz="1400" dirty="0">
                <a:highlight>
                  <a:srgbClr val="00FF00"/>
                </a:highlight>
              </a:rPr>
              <a:t>three double values </a:t>
            </a:r>
            <a:r>
              <a:rPr lang="en-AU" sz="1400" dirty="0"/>
              <a:t>entered by the user represent the sides of an isosceles triangle or not. An isosceles triangle is a triangle that has two sides of equal length. The program takes in three</a:t>
            </a:r>
            <a:r>
              <a:rPr lang="en-AU" sz="1400" dirty="0">
                <a:highlight>
                  <a:srgbClr val="00FF00"/>
                </a:highlight>
              </a:rPr>
              <a:t> double values between 2 and 20 </a:t>
            </a:r>
            <a:r>
              <a:rPr lang="en-AU" sz="1400" dirty="0"/>
              <a:t>from the user and checks whether the triangle is isosceles or not.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400" dirty="0"/>
              <a:t>The program should output </a:t>
            </a:r>
          </a:p>
          <a:p>
            <a:pPr marL="685800" lvl="1"/>
            <a:r>
              <a:rPr lang="en-AU" sz="1400" b="1" dirty="0"/>
              <a:t>"This triangle is Isosceles!" </a:t>
            </a:r>
            <a:r>
              <a:rPr lang="en-AU" sz="1400" dirty="0"/>
              <a:t>if the triangle is isosceles</a:t>
            </a:r>
          </a:p>
          <a:p>
            <a:pPr marL="685800" lvl="1"/>
            <a:r>
              <a:rPr lang="en-AU" sz="1400" b="1" dirty="0"/>
              <a:t>"This is an inferior triangle" </a:t>
            </a:r>
            <a:r>
              <a:rPr lang="en-AU" sz="1400" dirty="0"/>
              <a:t>if it is not isosceles.</a:t>
            </a:r>
          </a:p>
          <a:p>
            <a:pPr marL="685800" lvl="1"/>
            <a:r>
              <a:rPr lang="en-AU" sz="1400" b="1" dirty="0"/>
              <a:t>"Please enter valid numeric lengths between 2 and 20. " </a:t>
            </a:r>
            <a:r>
              <a:rPr lang="en-AU" sz="1400" dirty="0"/>
              <a:t>if the numbers are out of range</a:t>
            </a:r>
          </a:p>
          <a:p>
            <a:endParaRPr lang="en-AU" dirty="0"/>
          </a:p>
        </p:txBody>
      </p:sp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FEEED-C074-51E6-F3A5-F54626172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00" y="1414855"/>
            <a:ext cx="2667000" cy="321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26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Content Placeholder 2"/>
          <p:cNvSpPr>
            <a:spLocks noGrp="1"/>
          </p:cNvSpPr>
          <p:nvPr>
            <p:ph sz="half" idx="1"/>
          </p:nvPr>
        </p:nvSpPr>
        <p:spPr>
          <a:xfrm>
            <a:off x="345798" y="889908"/>
            <a:ext cx="5566052" cy="1496681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/>
              <a:t>The purpose of this method is to determine whether </a:t>
            </a:r>
            <a:r>
              <a:rPr lang="en-AU" sz="900" dirty="0">
                <a:highlight>
                  <a:srgbClr val="00FF00"/>
                </a:highlight>
              </a:rPr>
              <a:t>three double values </a:t>
            </a:r>
            <a:r>
              <a:rPr lang="en-AU" sz="900" dirty="0"/>
              <a:t>entered by the user represent the sides of an isosceles triangle or not. An isosceles triangle is a triangle that has two sides of equal length. The program takes in three</a:t>
            </a:r>
            <a:r>
              <a:rPr lang="en-AU" sz="900" dirty="0">
                <a:highlight>
                  <a:srgbClr val="00FF00"/>
                </a:highlight>
              </a:rPr>
              <a:t> double values between 2 and 20 </a:t>
            </a:r>
            <a:r>
              <a:rPr lang="en-AU" sz="900" dirty="0"/>
              <a:t>from the user and checks whether the triangle is isosceles or not.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900" dirty="0"/>
              <a:t>The program should output </a:t>
            </a:r>
          </a:p>
          <a:p>
            <a:pPr marL="685800" lvl="1"/>
            <a:r>
              <a:rPr lang="en-AU" sz="900" b="1" dirty="0"/>
              <a:t>"This triangle is Isosceles!" </a:t>
            </a:r>
            <a:r>
              <a:rPr lang="en-AU" sz="900" dirty="0"/>
              <a:t>if the triangle is isosceles</a:t>
            </a:r>
          </a:p>
          <a:p>
            <a:pPr marL="685800" lvl="1"/>
            <a:r>
              <a:rPr lang="en-AU" sz="900" b="1" dirty="0"/>
              <a:t>"This is an inferior triangle" </a:t>
            </a:r>
            <a:r>
              <a:rPr lang="en-AU" sz="900" dirty="0"/>
              <a:t>if it is not isosceles.</a:t>
            </a:r>
          </a:p>
          <a:p>
            <a:pPr marL="685800" lvl="1"/>
            <a:r>
              <a:rPr lang="en-AU" sz="900" b="1" dirty="0"/>
              <a:t>"Please enter valid numeric lengths between 2 and 20. " </a:t>
            </a:r>
            <a:r>
              <a:rPr lang="en-AU" sz="900" dirty="0"/>
              <a:t>if the numbers are out of range</a:t>
            </a:r>
          </a:p>
          <a:p>
            <a:endParaRPr lang="en-AU" dirty="0"/>
          </a:p>
        </p:txBody>
      </p:sp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BVA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 dirty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FEEED-C074-51E6-F3A5-F54626172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00" y="1414855"/>
            <a:ext cx="2667000" cy="3217867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635CDF5-E849-9B34-5AD6-61576AE27DF4}"/>
              </a:ext>
            </a:extLst>
          </p:cNvPr>
          <p:cNvSpPr txBox="1">
            <a:spLocks/>
          </p:cNvSpPr>
          <p:nvPr/>
        </p:nvSpPr>
        <p:spPr>
          <a:xfrm>
            <a:off x="345798" y="2777068"/>
            <a:ext cx="5566052" cy="1758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Identify inputs</a:t>
            </a:r>
          </a:p>
          <a:p>
            <a:pPr marL="685800" lvl="1"/>
            <a:r>
              <a:rPr lang="en-AU" dirty="0"/>
              <a:t>Three doubles</a:t>
            </a:r>
          </a:p>
          <a:p>
            <a:pPr marL="685800" lvl="1"/>
            <a:r>
              <a:rPr lang="en-AU" dirty="0"/>
              <a:t>Side 1, Side 2, Side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Identify boundaries</a:t>
            </a:r>
          </a:p>
          <a:p>
            <a:pPr marL="685800" lvl="1"/>
            <a:r>
              <a:rPr lang="en-AU" dirty="0"/>
              <a:t>2-20</a:t>
            </a:r>
          </a:p>
          <a:p>
            <a:pPr marL="171450"/>
            <a:endParaRPr lang="en-AU" sz="10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040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BVA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 dirty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635CDF5-E849-9B34-5AD6-61576AE27DF4}"/>
              </a:ext>
            </a:extLst>
          </p:cNvPr>
          <p:cNvSpPr txBox="1">
            <a:spLocks/>
          </p:cNvSpPr>
          <p:nvPr/>
        </p:nvSpPr>
        <p:spPr>
          <a:xfrm>
            <a:off x="288648" y="813284"/>
            <a:ext cx="5566052" cy="1758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600" dirty="0"/>
              <a:t>Identify inputs</a:t>
            </a:r>
          </a:p>
          <a:p>
            <a:pPr marL="685800" lvl="1"/>
            <a:r>
              <a:rPr lang="en-AU" sz="1600" dirty="0"/>
              <a:t>Three doubles</a:t>
            </a:r>
          </a:p>
          <a:p>
            <a:pPr marL="685800" lvl="1"/>
            <a:r>
              <a:rPr lang="en-AU" sz="1600" dirty="0"/>
              <a:t>Side 1, Side 2, Side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600" dirty="0"/>
              <a:t>Identify boundaries</a:t>
            </a:r>
          </a:p>
          <a:p>
            <a:pPr marL="685800" lvl="1"/>
            <a:r>
              <a:rPr lang="en-AU" sz="1600" dirty="0"/>
              <a:t>2-20</a:t>
            </a:r>
          </a:p>
          <a:p>
            <a:pPr marL="171450"/>
            <a:endParaRPr lang="en-AU" sz="1000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D2FC7-3678-EF9F-A664-784EFCF3FCF2}"/>
              </a:ext>
            </a:extLst>
          </p:cNvPr>
          <p:cNvSpPr txBox="1"/>
          <p:nvPr/>
        </p:nvSpPr>
        <p:spPr>
          <a:xfrm>
            <a:off x="3893344" y="1293079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1: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470F4-5B7B-B5A6-DBE4-8B1A863D114B}"/>
              </a:ext>
            </a:extLst>
          </p:cNvPr>
          <p:cNvSpPr txBox="1"/>
          <p:nvPr/>
        </p:nvSpPr>
        <p:spPr>
          <a:xfrm>
            <a:off x="3893343" y="2661080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2: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41315-1D40-05F6-0072-1A666A6AD585}"/>
              </a:ext>
            </a:extLst>
          </p:cNvPr>
          <p:cNvSpPr txBox="1"/>
          <p:nvPr/>
        </p:nvSpPr>
        <p:spPr>
          <a:xfrm>
            <a:off x="3900487" y="4145550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3:</a:t>
            </a:r>
          </a:p>
        </p:txBody>
      </p:sp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40555AFD-1D4E-3C6D-1120-A860F691A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698" y="913415"/>
            <a:ext cx="4218441" cy="1350267"/>
          </a:xfrm>
          <a:prstGeom prst="rect">
            <a:avLst/>
          </a:prstGeom>
        </p:spPr>
      </p:pic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6C2A0DA2-7967-10AA-0CBE-CDF5399AA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35055"/>
            <a:ext cx="4218441" cy="1350267"/>
          </a:xfrm>
          <a:prstGeom prst="rect">
            <a:avLst/>
          </a:prstGeom>
        </p:spPr>
      </p:pic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D88405C3-93B7-AC6D-CDE7-C979C57AE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470416"/>
            <a:ext cx="4218441" cy="135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2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0B62791D-BE17-96E9-20A1-037B8C5C4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298" y="935015"/>
            <a:ext cx="4218441" cy="1350267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B77DECFE-BF85-933A-F290-D11EE6C72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200" y="2256655"/>
            <a:ext cx="4218441" cy="1350267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B064354-834B-1038-1BBD-AA075AF87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200" y="3492016"/>
            <a:ext cx="4218441" cy="1350267"/>
          </a:xfrm>
          <a:prstGeom prst="rect">
            <a:avLst/>
          </a:prstGeom>
        </p:spPr>
      </p:pic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BVA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 dirty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635CDF5-E849-9B34-5AD6-61576AE27DF4}"/>
              </a:ext>
            </a:extLst>
          </p:cNvPr>
          <p:cNvSpPr txBox="1">
            <a:spLocks/>
          </p:cNvSpPr>
          <p:nvPr/>
        </p:nvSpPr>
        <p:spPr>
          <a:xfrm>
            <a:off x="288648" y="813283"/>
            <a:ext cx="4511952" cy="4112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800" dirty="0"/>
              <a:t>Side 1 (hold side 2 and 3 constant)</a:t>
            </a:r>
          </a:p>
          <a:p>
            <a:pPr marL="685800" lvl="1"/>
            <a:r>
              <a:rPr lang="en-AU" sz="1800" dirty="0"/>
              <a:t>Lower boundary</a:t>
            </a:r>
          </a:p>
          <a:p>
            <a:pPr marL="1028700" lvl="2"/>
            <a:r>
              <a:rPr lang="en-AU" sz="1800" dirty="0"/>
              <a:t>1, 10, 10</a:t>
            </a:r>
          </a:p>
          <a:p>
            <a:pPr marL="1028700" lvl="2"/>
            <a:r>
              <a:rPr lang="en-AU" sz="1800" dirty="0"/>
              <a:t>2, 10, 10</a:t>
            </a:r>
          </a:p>
          <a:p>
            <a:pPr marL="1028700" lvl="2"/>
            <a:r>
              <a:rPr lang="en-AU" sz="1800" dirty="0"/>
              <a:t>3, 10, 10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800" dirty="0"/>
              <a:t>Side 1 (hold side 2 and 3 constant)</a:t>
            </a:r>
          </a:p>
          <a:p>
            <a:pPr marL="685800" lvl="1"/>
            <a:r>
              <a:rPr lang="en-AU" sz="1800" dirty="0"/>
              <a:t>Upper boundary</a:t>
            </a:r>
          </a:p>
          <a:p>
            <a:pPr marL="1028700" lvl="2"/>
            <a:r>
              <a:rPr lang="en-AU" sz="1800" dirty="0"/>
              <a:t>19, 10, 10</a:t>
            </a:r>
          </a:p>
          <a:p>
            <a:pPr marL="1028700" lvl="2"/>
            <a:r>
              <a:rPr lang="en-AU" sz="1800" dirty="0"/>
              <a:t>20, 10, 10</a:t>
            </a:r>
          </a:p>
          <a:p>
            <a:pPr marL="1028700" lvl="2"/>
            <a:r>
              <a:rPr lang="en-AU" sz="1800" dirty="0"/>
              <a:t>21, 10, 10</a:t>
            </a:r>
          </a:p>
          <a:p>
            <a:pPr marL="1028700" lvl="2"/>
            <a:endParaRPr lang="en-AU" sz="1600" dirty="0"/>
          </a:p>
          <a:p>
            <a:pPr marL="1028700" lvl="2"/>
            <a:endParaRPr lang="en-AU" sz="1600" dirty="0"/>
          </a:p>
          <a:p>
            <a:pPr marL="171450"/>
            <a:endParaRPr lang="en-AU" sz="1000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D2FC7-3678-EF9F-A664-784EFCF3FCF2}"/>
              </a:ext>
            </a:extLst>
          </p:cNvPr>
          <p:cNvSpPr txBox="1"/>
          <p:nvPr/>
        </p:nvSpPr>
        <p:spPr>
          <a:xfrm>
            <a:off x="5021780" y="628617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1: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470F4-5B7B-B5A6-DBE4-8B1A863D114B}"/>
              </a:ext>
            </a:extLst>
          </p:cNvPr>
          <p:cNvSpPr txBox="1"/>
          <p:nvPr/>
        </p:nvSpPr>
        <p:spPr>
          <a:xfrm>
            <a:off x="5021780" y="211757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2: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41315-1D40-05F6-0072-1A666A6AD585}"/>
              </a:ext>
            </a:extLst>
          </p:cNvPr>
          <p:cNvSpPr txBox="1"/>
          <p:nvPr/>
        </p:nvSpPr>
        <p:spPr>
          <a:xfrm>
            <a:off x="5021780" y="349648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3:</a:t>
            </a:r>
          </a:p>
        </p:txBody>
      </p:sp>
    </p:spTree>
    <p:extLst>
      <p:ext uri="{BB962C8B-B14F-4D97-AF65-F5344CB8AC3E}">
        <p14:creationId xmlns:p14="http://schemas.microsoft.com/office/powerpoint/2010/main" val="1432800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1E89E209-7273-5A4D-942D-CE78F04A6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59" y="813283"/>
            <a:ext cx="4218441" cy="1350267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0C77DE86-5B8A-C6F7-5FD5-5F865584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461" y="2134923"/>
            <a:ext cx="4218441" cy="1350267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B901AAE-C81F-9EEC-E605-EAB3B29E8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461" y="3370284"/>
            <a:ext cx="4218441" cy="1350267"/>
          </a:xfrm>
          <a:prstGeom prst="rect">
            <a:avLst/>
          </a:prstGeom>
        </p:spPr>
      </p:pic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BVA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 dirty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635CDF5-E849-9B34-5AD6-61576AE27DF4}"/>
              </a:ext>
            </a:extLst>
          </p:cNvPr>
          <p:cNvSpPr txBox="1">
            <a:spLocks/>
          </p:cNvSpPr>
          <p:nvPr/>
        </p:nvSpPr>
        <p:spPr>
          <a:xfrm>
            <a:off x="288648" y="813283"/>
            <a:ext cx="4511952" cy="4112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800" dirty="0"/>
              <a:t>Side 2 (hold side 1 and 3 constant)</a:t>
            </a:r>
          </a:p>
          <a:p>
            <a:pPr marL="685800" lvl="1"/>
            <a:r>
              <a:rPr lang="en-AU" sz="1800" dirty="0"/>
              <a:t>Lower boundary</a:t>
            </a:r>
          </a:p>
          <a:p>
            <a:pPr marL="1028700" lvl="2"/>
            <a:r>
              <a:rPr lang="en-AU" sz="1800" dirty="0"/>
              <a:t>10, 1, 10</a:t>
            </a:r>
          </a:p>
          <a:p>
            <a:pPr marL="1028700" lvl="2"/>
            <a:r>
              <a:rPr lang="en-AU" sz="1800" dirty="0"/>
              <a:t>10, 2, 10</a:t>
            </a:r>
          </a:p>
          <a:p>
            <a:pPr marL="1028700" lvl="2"/>
            <a:r>
              <a:rPr lang="en-AU" sz="1800" dirty="0"/>
              <a:t>10, 3, 10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800" dirty="0"/>
              <a:t>Side 2 (hold side 1 and 3 constant)</a:t>
            </a:r>
          </a:p>
          <a:p>
            <a:pPr marL="685800" lvl="1"/>
            <a:r>
              <a:rPr lang="en-AU" sz="1800" dirty="0"/>
              <a:t>Upper boundary</a:t>
            </a:r>
          </a:p>
          <a:p>
            <a:pPr marL="1028700" lvl="2"/>
            <a:r>
              <a:rPr lang="en-AU" sz="1800" dirty="0"/>
              <a:t>10, 19, 10</a:t>
            </a:r>
          </a:p>
          <a:p>
            <a:pPr marL="1028700" lvl="2"/>
            <a:r>
              <a:rPr lang="en-AU" sz="1800" dirty="0"/>
              <a:t>10, 20, 10</a:t>
            </a:r>
          </a:p>
          <a:p>
            <a:pPr marL="1028700" lvl="2"/>
            <a:r>
              <a:rPr lang="en-AU" sz="1800" dirty="0"/>
              <a:t>10, 21, 10</a:t>
            </a:r>
          </a:p>
          <a:p>
            <a:pPr marL="1028700" lvl="2"/>
            <a:endParaRPr lang="en-AU" sz="1600" dirty="0"/>
          </a:p>
          <a:p>
            <a:pPr marL="1028700" lvl="2"/>
            <a:endParaRPr lang="en-AU" sz="1600" dirty="0"/>
          </a:p>
          <a:p>
            <a:pPr marL="171450"/>
            <a:endParaRPr lang="en-AU" sz="1000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D2FC7-3678-EF9F-A664-784EFCF3FCF2}"/>
              </a:ext>
            </a:extLst>
          </p:cNvPr>
          <p:cNvSpPr txBox="1"/>
          <p:nvPr/>
        </p:nvSpPr>
        <p:spPr>
          <a:xfrm>
            <a:off x="5021780" y="628617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1: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470F4-5B7B-B5A6-DBE4-8B1A863D114B}"/>
              </a:ext>
            </a:extLst>
          </p:cNvPr>
          <p:cNvSpPr txBox="1"/>
          <p:nvPr/>
        </p:nvSpPr>
        <p:spPr>
          <a:xfrm>
            <a:off x="5021780" y="211757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2: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41315-1D40-05F6-0072-1A666A6AD585}"/>
              </a:ext>
            </a:extLst>
          </p:cNvPr>
          <p:cNvSpPr txBox="1"/>
          <p:nvPr/>
        </p:nvSpPr>
        <p:spPr>
          <a:xfrm>
            <a:off x="5021780" y="349648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3:</a:t>
            </a:r>
          </a:p>
        </p:txBody>
      </p:sp>
    </p:spTree>
    <p:extLst>
      <p:ext uri="{BB962C8B-B14F-4D97-AF65-F5344CB8AC3E}">
        <p14:creationId xmlns:p14="http://schemas.microsoft.com/office/powerpoint/2010/main" val="425856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2E19FBEE-0E2A-7A8B-E710-F425E541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780" y="942042"/>
            <a:ext cx="4218441" cy="1350267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17E2B78-0609-99DB-078C-AF76BF582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682" y="2263682"/>
            <a:ext cx="4218441" cy="1350267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D97C417C-1007-121E-D46B-C05DEA025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682" y="3499043"/>
            <a:ext cx="4218441" cy="1350267"/>
          </a:xfrm>
          <a:prstGeom prst="rect">
            <a:avLst/>
          </a:prstGeom>
        </p:spPr>
      </p:pic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BVA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 dirty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635CDF5-E849-9B34-5AD6-61576AE27DF4}"/>
              </a:ext>
            </a:extLst>
          </p:cNvPr>
          <p:cNvSpPr txBox="1">
            <a:spLocks/>
          </p:cNvSpPr>
          <p:nvPr/>
        </p:nvSpPr>
        <p:spPr>
          <a:xfrm>
            <a:off x="288648" y="813283"/>
            <a:ext cx="4511952" cy="4112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800" dirty="0"/>
              <a:t>Side 3 (hold side 1 and 2 constant)</a:t>
            </a:r>
          </a:p>
          <a:p>
            <a:pPr marL="685800" lvl="1"/>
            <a:r>
              <a:rPr lang="en-AU" sz="1800" dirty="0"/>
              <a:t>Lower boundary</a:t>
            </a:r>
          </a:p>
          <a:p>
            <a:pPr marL="1028700" lvl="2"/>
            <a:r>
              <a:rPr lang="en-AU" sz="1800" dirty="0"/>
              <a:t>10, 10, 1</a:t>
            </a:r>
          </a:p>
          <a:p>
            <a:pPr marL="1028700" lvl="2"/>
            <a:r>
              <a:rPr lang="en-AU" sz="1800" dirty="0"/>
              <a:t>10,10, 2</a:t>
            </a:r>
          </a:p>
          <a:p>
            <a:pPr marL="1028700" lvl="2"/>
            <a:r>
              <a:rPr lang="en-AU" sz="1800" dirty="0"/>
              <a:t>10, 10, 3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800" dirty="0"/>
              <a:t>Side 3 (hold side 1 and 2 constant)</a:t>
            </a:r>
          </a:p>
          <a:p>
            <a:pPr marL="685800" lvl="1"/>
            <a:r>
              <a:rPr lang="en-AU" sz="1800" dirty="0"/>
              <a:t>Upper boundary</a:t>
            </a:r>
          </a:p>
          <a:p>
            <a:pPr marL="1028700" lvl="2"/>
            <a:r>
              <a:rPr lang="en-AU" sz="1800" dirty="0"/>
              <a:t>10, 10, 19</a:t>
            </a:r>
          </a:p>
          <a:p>
            <a:pPr marL="1028700" lvl="2"/>
            <a:r>
              <a:rPr lang="en-AU" sz="1800" dirty="0"/>
              <a:t>10, 10, 20</a:t>
            </a:r>
          </a:p>
          <a:p>
            <a:pPr marL="1028700" lvl="2"/>
            <a:r>
              <a:rPr lang="en-AU" sz="1800" dirty="0"/>
              <a:t>10, 10, 21</a:t>
            </a:r>
          </a:p>
          <a:p>
            <a:pPr marL="1028700" lvl="2"/>
            <a:endParaRPr lang="en-AU" sz="1600" dirty="0"/>
          </a:p>
          <a:p>
            <a:pPr marL="1028700" lvl="2"/>
            <a:endParaRPr lang="en-AU" sz="1600" dirty="0"/>
          </a:p>
          <a:p>
            <a:pPr marL="171450"/>
            <a:endParaRPr lang="en-AU" sz="1000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D2FC7-3678-EF9F-A664-784EFCF3FCF2}"/>
              </a:ext>
            </a:extLst>
          </p:cNvPr>
          <p:cNvSpPr txBox="1"/>
          <p:nvPr/>
        </p:nvSpPr>
        <p:spPr>
          <a:xfrm>
            <a:off x="5021780" y="628617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1: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470F4-5B7B-B5A6-DBE4-8B1A863D114B}"/>
              </a:ext>
            </a:extLst>
          </p:cNvPr>
          <p:cNvSpPr txBox="1"/>
          <p:nvPr/>
        </p:nvSpPr>
        <p:spPr>
          <a:xfrm>
            <a:off x="5021780" y="211757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2: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41315-1D40-05F6-0072-1A666A6AD585}"/>
              </a:ext>
            </a:extLst>
          </p:cNvPr>
          <p:cNvSpPr txBox="1"/>
          <p:nvPr/>
        </p:nvSpPr>
        <p:spPr>
          <a:xfrm>
            <a:off x="5021780" y="349648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3:</a:t>
            </a:r>
          </a:p>
        </p:txBody>
      </p:sp>
    </p:spTree>
    <p:extLst>
      <p:ext uri="{BB962C8B-B14F-4D97-AF65-F5344CB8AC3E}">
        <p14:creationId xmlns:p14="http://schemas.microsoft.com/office/powerpoint/2010/main" val="217251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618FA8A-B4BA-1661-3C83-CF58AB16E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657" y="913415"/>
            <a:ext cx="4218441" cy="1350267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C8965B2-A8D7-BA50-164D-A8FF16813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59" y="2235055"/>
            <a:ext cx="4218441" cy="1350267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B9792811-8A22-DDD0-EA2A-B3C06488A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59" y="3470416"/>
            <a:ext cx="4218441" cy="1350267"/>
          </a:xfrm>
          <a:prstGeom prst="rect">
            <a:avLst/>
          </a:prstGeom>
        </p:spPr>
      </p:pic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BVA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 dirty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D2FC7-3678-EF9F-A664-784EFCF3FCF2}"/>
              </a:ext>
            </a:extLst>
          </p:cNvPr>
          <p:cNvSpPr txBox="1"/>
          <p:nvPr/>
        </p:nvSpPr>
        <p:spPr>
          <a:xfrm>
            <a:off x="5021780" y="628617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1: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470F4-5B7B-B5A6-DBE4-8B1A863D114B}"/>
              </a:ext>
            </a:extLst>
          </p:cNvPr>
          <p:cNvSpPr txBox="1"/>
          <p:nvPr/>
        </p:nvSpPr>
        <p:spPr>
          <a:xfrm>
            <a:off x="5021780" y="211757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2: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41315-1D40-05F6-0072-1A666A6AD585}"/>
              </a:ext>
            </a:extLst>
          </p:cNvPr>
          <p:cNvSpPr txBox="1"/>
          <p:nvPr/>
        </p:nvSpPr>
        <p:spPr>
          <a:xfrm>
            <a:off x="5021780" y="349648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3: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EBD2EDB-855D-2802-CAB1-FBA21E20E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14475"/>
              </p:ext>
            </p:extLst>
          </p:nvPr>
        </p:nvGraphicFramePr>
        <p:xfrm>
          <a:off x="-2" y="0"/>
          <a:ext cx="5126401" cy="52197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83551">
                  <a:extLst>
                    <a:ext uri="{9D8B030D-6E8A-4147-A177-3AD203B41FA5}">
                      <a16:colId xmlns:a16="http://schemas.microsoft.com/office/drawing/2014/main" val="539480356"/>
                    </a:ext>
                  </a:extLst>
                </a:gridCol>
                <a:gridCol w="639450">
                  <a:extLst>
                    <a:ext uri="{9D8B030D-6E8A-4147-A177-3AD203B41FA5}">
                      <a16:colId xmlns:a16="http://schemas.microsoft.com/office/drawing/2014/main" val="1269332959"/>
                    </a:ext>
                  </a:extLst>
                </a:gridCol>
                <a:gridCol w="779100">
                  <a:extLst>
                    <a:ext uri="{9D8B030D-6E8A-4147-A177-3AD203B41FA5}">
                      <a16:colId xmlns:a16="http://schemas.microsoft.com/office/drawing/2014/main" val="3502868102"/>
                    </a:ext>
                  </a:extLst>
                </a:gridCol>
                <a:gridCol w="547501">
                  <a:extLst>
                    <a:ext uri="{9D8B030D-6E8A-4147-A177-3AD203B41FA5}">
                      <a16:colId xmlns:a16="http://schemas.microsoft.com/office/drawing/2014/main" val="677664375"/>
                    </a:ext>
                  </a:extLst>
                </a:gridCol>
                <a:gridCol w="2476799">
                  <a:extLst>
                    <a:ext uri="{9D8B030D-6E8A-4147-A177-3AD203B41FA5}">
                      <a16:colId xmlns:a16="http://schemas.microsoft.com/office/drawing/2014/main" val="1855390446"/>
                    </a:ext>
                  </a:extLst>
                </a:gridCol>
              </a:tblGrid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Side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Side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Side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Expected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835424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700" b="1" dirty="0"/>
                        <a:t>Please enter valid numeric lengths between 2 and 20</a:t>
                      </a:r>
                      <a:r>
                        <a:rPr lang="en-AU" sz="1100" b="1" dirty="0"/>
                        <a:t>.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983110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dirty="0"/>
                        <a:t>bva_2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170751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dirty="0"/>
                        <a:t>bva_3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6555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19308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099684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dirty="0"/>
                        <a:t>Please enter valid numeric lengths between 2 and 20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563460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dirty="0"/>
                        <a:t>Please enter valid numeric lengths between 2 and 20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115482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636929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868032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20574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496574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00" b="1" dirty="0"/>
                        <a:t>Please enter valid numeric lengths between 2 and 20</a:t>
                      </a:r>
                      <a:endParaRPr lang="en-A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972395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dirty="0"/>
                        <a:t>Please enter valid numeric lengths between 2 and 20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234662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58349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580982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411257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b="1" dirty="0"/>
                        <a:t>This triangle is Isosceles!" 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005287"/>
                  </a:ext>
                </a:extLst>
              </a:tr>
              <a:tr h="248627">
                <a:tc>
                  <a:txBody>
                    <a:bodyPr/>
                    <a:lstStyle/>
                    <a:p>
                      <a:r>
                        <a:rPr lang="en-AU" sz="1100" dirty="0"/>
                        <a:t>bva_18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 dirty="0"/>
                        <a:t>Please enter valid numeric lengths between 2 and 20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045595"/>
                  </a:ext>
                </a:extLst>
              </a:tr>
              <a:tr h="261266">
                <a:tc gridSpan="5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52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87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 dirty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D2FC7-3678-EF9F-A664-784EFCF3FCF2}"/>
              </a:ext>
            </a:extLst>
          </p:cNvPr>
          <p:cNvSpPr txBox="1"/>
          <p:nvPr/>
        </p:nvSpPr>
        <p:spPr>
          <a:xfrm>
            <a:off x="5021780" y="628617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1: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470F4-5B7B-B5A6-DBE4-8B1A863D114B}"/>
              </a:ext>
            </a:extLst>
          </p:cNvPr>
          <p:cNvSpPr txBox="1"/>
          <p:nvPr/>
        </p:nvSpPr>
        <p:spPr>
          <a:xfrm>
            <a:off x="5021780" y="211757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2: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41315-1D40-05F6-0072-1A666A6AD585}"/>
              </a:ext>
            </a:extLst>
          </p:cNvPr>
          <p:cNvSpPr txBox="1"/>
          <p:nvPr/>
        </p:nvSpPr>
        <p:spPr>
          <a:xfrm>
            <a:off x="5021780" y="3496482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Side 3:</a:t>
            </a:r>
          </a:p>
        </p:txBody>
      </p:sp>
      <p:pic>
        <p:nvPicPr>
          <p:cNvPr id="7" name="Picture 6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70EDF6B-C6E7-F47D-6FF1-0EB2B911B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26" b="30479"/>
          <a:stretch/>
        </p:blipFill>
        <p:spPr>
          <a:xfrm>
            <a:off x="4856983" y="997949"/>
            <a:ext cx="4230633" cy="899534"/>
          </a:xfrm>
          <a:prstGeom prst="rect">
            <a:avLst/>
          </a:prstGeom>
        </p:spPr>
      </p:pic>
      <p:pic>
        <p:nvPicPr>
          <p:cNvPr id="8" name="Picture 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38636D2-C160-FF88-4EB7-9650973F37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26" b="30479"/>
          <a:stretch/>
        </p:blipFill>
        <p:spPr>
          <a:xfrm>
            <a:off x="4856982" y="2571750"/>
            <a:ext cx="4230633" cy="899534"/>
          </a:xfrm>
          <a:prstGeom prst="rect">
            <a:avLst/>
          </a:prstGeom>
        </p:spPr>
      </p:pic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A3C5A1B-1FBE-DCC3-45BE-DB66EBAF24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26" b="30479"/>
          <a:stretch/>
        </p:blipFill>
        <p:spPr>
          <a:xfrm>
            <a:off x="4856981" y="3891012"/>
            <a:ext cx="4230633" cy="8995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8F0DB8-66F0-5438-248F-2B0A4C1FEE42}"/>
              </a:ext>
            </a:extLst>
          </p:cNvPr>
          <p:cNvSpPr txBox="1"/>
          <p:nvPr/>
        </p:nvSpPr>
        <p:spPr>
          <a:xfrm>
            <a:off x="172800" y="997949"/>
            <a:ext cx="4399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Valid</a:t>
            </a:r>
          </a:p>
          <a:p>
            <a:r>
              <a:rPr lang="en-AU" dirty="0"/>
              <a:t>EQ1- Side 1 between 2-20</a:t>
            </a:r>
          </a:p>
          <a:p>
            <a:r>
              <a:rPr lang="en-AU" dirty="0"/>
              <a:t>EQ2- Side 2 between 2-20</a:t>
            </a:r>
          </a:p>
          <a:p>
            <a:r>
              <a:rPr lang="en-AU" dirty="0"/>
              <a:t>EQ3- Side 3 between 2-20</a:t>
            </a:r>
          </a:p>
          <a:p>
            <a:endParaRPr lang="en-AU" dirty="0"/>
          </a:p>
          <a:p>
            <a:r>
              <a:rPr lang="en-AU" dirty="0"/>
              <a:t>Invalid</a:t>
            </a:r>
          </a:p>
          <a:p>
            <a:r>
              <a:rPr lang="en-AU" dirty="0"/>
              <a:t>EQ4- Side 1 above 20</a:t>
            </a:r>
          </a:p>
          <a:p>
            <a:r>
              <a:rPr lang="en-AU" dirty="0"/>
              <a:t>EQ5- Side 1 under 2</a:t>
            </a:r>
          </a:p>
          <a:p>
            <a:r>
              <a:rPr lang="en-AU" dirty="0"/>
              <a:t>EQ6- Side 2 above 20</a:t>
            </a:r>
          </a:p>
          <a:p>
            <a:r>
              <a:rPr lang="en-AU" dirty="0"/>
              <a:t>EQ7- Side 2 under 2</a:t>
            </a:r>
          </a:p>
          <a:p>
            <a:r>
              <a:rPr lang="en-AU" dirty="0"/>
              <a:t>EQ8- Side 3 above 20</a:t>
            </a:r>
          </a:p>
          <a:p>
            <a:r>
              <a:rPr lang="en-AU" dirty="0"/>
              <a:t>EQ9- Side 3 under 2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679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4926013"/>
            <a:ext cx="2884488" cy="1841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 dirty="0">
                <a:solidFill>
                  <a:srgbClr val="FFFFFF"/>
                </a:solidFill>
                <a:cs typeface="Arial" panose="020B0604020202020204" pitchFamily="34" charset="0"/>
              </a:rPr>
              <a:t>Introduction to Software Testing, Edition 2  (Ch 3)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6972300" y="4919663"/>
            <a:ext cx="2171700" cy="190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t>© Ammann &amp; Offutt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715250" y="4913313"/>
            <a:ext cx="1428750" cy="196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rgbClr val="FAFD00"/>
                </a:solidFill>
                <a:latin typeface="Times New Roman" pitchFamily="18" charset="0"/>
              </a:defRPr>
            </a:lvl1pPr>
            <a:lvl2pPr marL="557213" indent="-214313">
              <a:defRPr sz="1500" b="1">
                <a:solidFill>
                  <a:srgbClr val="FAFD00"/>
                </a:solidFill>
                <a:latin typeface="Times New Roman" pitchFamily="18" charset="0"/>
              </a:defRPr>
            </a:lvl2pPr>
            <a:lvl3pPr marL="8572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2001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543050" indent="-171450">
              <a:defRPr sz="1500" b="1">
                <a:solidFill>
                  <a:srgbClr val="FAFD00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6234D50-F2C9-4B80-95EF-64B7C8DD65BF}" type="slidenum">
              <a:rPr lang="en-US" sz="675" b="0">
                <a:solidFill>
                  <a:srgbClr val="FFFFFF"/>
                </a:solidFill>
                <a:cs typeface="Arial" panose="020B0604020202020204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sz="675" b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8F0DB8-66F0-5438-248F-2B0A4C1FEE42}"/>
              </a:ext>
            </a:extLst>
          </p:cNvPr>
          <p:cNvSpPr txBox="1"/>
          <p:nvPr/>
        </p:nvSpPr>
        <p:spPr>
          <a:xfrm>
            <a:off x="172800" y="997949"/>
            <a:ext cx="4399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Valid</a:t>
            </a:r>
          </a:p>
          <a:p>
            <a:r>
              <a:rPr lang="en-AU" dirty="0"/>
              <a:t>EQ1- Side 1 between 2-20</a:t>
            </a:r>
          </a:p>
          <a:p>
            <a:r>
              <a:rPr lang="en-AU" dirty="0"/>
              <a:t>EQ2- Side 2 between 2-20</a:t>
            </a:r>
          </a:p>
          <a:p>
            <a:r>
              <a:rPr lang="en-AU" dirty="0"/>
              <a:t>EQ3- Side 3 between 2-20</a:t>
            </a:r>
          </a:p>
          <a:p>
            <a:endParaRPr lang="en-AU" dirty="0"/>
          </a:p>
          <a:p>
            <a:r>
              <a:rPr lang="en-AU" dirty="0"/>
              <a:t>Invalid</a:t>
            </a:r>
          </a:p>
          <a:p>
            <a:r>
              <a:rPr lang="en-AU" dirty="0"/>
              <a:t>EQ4- Side 1 above 20</a:t>
            </a:r>
          </a:p>
          <a:p>
            <a:r>
              <a:rPr lang="en-AU" dirty="0"/>
              <a:t>EQ5- Side 1 under 2</a:t>
            </a:r>
          </a:p>
          <a:p>
            <a:r>
              <a:rPr lang="en-AU" dirty="0"/>
              <a:t>EQ6- Side 2 above 20</a:t>
            </a:r>
          </a:p>
          <a:p>
            <a:r>
              <a:rPr lang="en-AU" dirty="0"/>
              <a:t>EQ7- Side 2 under 2</a:t>
            </a:r>
          </a:p>
          <a:p>
            <a:r>
              <a:rPr lang="en-AU" dirty="0"/>
              <a:t>EQ8- Side 3 above 20</a:t>
            </a:r>
          </a:p>
          <a:p>
            <a:r>
              <a:rPr lang="en-AU" dirty="0"/>
              <a:t>EQ9- Side 3 under 2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536A7-68E3-3B20-4C9B-AD92DB663BBE}"/>
              </a:ext>
            </a:extLst>
          </p:cNvPr>
          <p:cNvSpPr txBox="1"/>
          <p:nvPr/>
        </p:nvSpPr>
        <p:spPr>
          <a:xfrm>
            <a:off x="4741200" y="978265"/>
            <a:ext cx="457200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Weak robust (valid and invalid)</a:t>
            </a:r>
          </a:p>
          <a:p>
            <a:r>
              <a:rPr lang="en-AU" dirty="0"/>
              <a:t>Tc 1 (covers all the valid): eq1, eq2, eq3</a:t>
            </a:r>
          </a:p>
          <a:p>
            <a:endParaRPr lang="en-AU" dirty="0"/>
          </a:p>
          <a:p>
            <a:r>
              <a:rPr lang="en-AU" dirty="0"/>
              <a:t>Tc 2 : eq4, eq2, eq3</a:t>
            </a:r>
          </a:p>
          <a:p>
            <a:r>
              <a:rPr lang="en-AU" dirty="0"/>
              <a:t>Tc 3 : eq5, eq2, eq3</a:t>
            </a:r>
          </a:p>
          <a:p>
            <a:endParaRPr lang="en-AU" dirty="0"/>
          </a:p>
          <a:p>
            <a:r>
              <a:rPr lang="en-AU" dirty="0"/>
              <a:t>Tc 2 : eq1, eq6, eq3</a:t>
            </a:r>
          </a:p>
          <a:p>
            <a:r>
              <a:rPr lang="en-AU" dirty="0"/>
              <a:t>Tc 3 : eq1, eq7, eq3</a:t>
            </a:r>
          </a:p>
          <a:p>
            <a:endParaRPr lang="en-AU" dirty="0"/>
          </a:p>
          <a:p>
            <a:r>
              <a:rPr lang="en-AU" dirty="0"/>
              <a:t>Tc 2 : eq1, eq2, eq8</a:t>
            </a:r>
          </a:p>
          <a:p>
            <a:r>
              <a:rPr lang="en-AU" dirty="0"/>
              <a:t>Tc 3 : eq1, eq2, eq9</a:t>
            </a:r>
          </a:p>
          <a:p>
            <a:endParaRPr lang="en-AU" dirty="0"/>
          </a:p>
          <a:p>
            <a:r>
              <a:rPr lang="en-AU" dirty="0"/>
              <a:t>------------------------------------------------------</a:t>
            </a:r>
          </a:p>
          <a:p>
            <a:r>
              <a:rPr lang="en-AU" dirty="0"/>
              <a:t>Tc 1 (covers all the valid): eq1, eq2, eq3</a:t>
            </a:r>
          </a:p>
          <a:p>
            <a:endParaRPr lang="en-AU" dirty="0"/>
          </a:p>
          <a:p>
            <a:r>
              <a:rPr lang="en-AU" dirty="0"/>
              <a:t>Tc1 = 10, 10, 19 -&gt; (this is an iso triangle)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0996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orld Ready Science">
      <a:dk1>
        <a:srgbClr val="101920"/>
      </a:dk1>
      <a:lt1>
        <a:srgbClr val="FFFFFF"/>
      </a:lt1>
      <a:dk2>
        <a:srgbClr val="404140"/>
      </a:dk2>
      <a:lt2>
        <a:srgbClr val="FFFFFF"/>
      </a:lt2>
      <a:accent1>
        <a:srgbClr val="004B85"/>
      </a:accent1>
      <a:accent2>
        <a:srgbClr val="BE2F36"/>
      </a:accent2>
      <a:accent3>
        <a:srgbClr val="FFC658"/>
      </a:accent3>
      <a:accent4>
        <a:srgbClr val="F16121"/>
      </a:accent4>
      <a:accent5>
        <a:srgbClr val="009878"/>
      </a:accent5>
      <a:accent6>
        <a:srgbClr val="EFECE5"/>
      </a:accent6>
      <a:hlink>
        <a:srgbClr val="004B85"/>
      </a:hlink>
      <a:folHlink>
        <a:srgbClr val="F1612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U Medical and Health Sciences PowerPoint Template_Widescreen_Apr19" id="{D10DD285-2DF1-9C4F-B5C8-5578DD628922}" vid="{A8463ABB-FE07-0249-9E07-D7B4EEEA80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CSI3105_Lecture_03_Testing_automation_2022</Template>
  <TotalTime>341</TotalTime>
  <Words>1183</Words>
  <Application>Microsoft Office PowerPoint</Application>
  <PresentationFormat>On-screen Show (16:9)</PresentationFormat>
  <Paragraphs>261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CSI3105: Software Testing</vt:lpstr>
      <vt:lpstr>Requirements Specification</vt:lpstr>
      <vt:lpstr>Requirements Specification</vt:lpstr>
      <vt:lpstr>BVA</vt:lpstr>
      <vt:lpstr>BVA</vt:lpstr>
      <vt:lpstr>BVA</vt:lpstr>
      <vt:lpstr>BVA</vt:lpstr>
      <vt:lpstr>BVA</vt:lpstr>
      <vt:lpstr>BVA</vt:lpstr>
      <vt:lpstr>EQ</vt:lpstr>
      <vt:lpstr>EQ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Luke KELLY</dc:creator>
  <cp:lastModifiedBy>Luke KELLY</cp:lastModifiedBy>
  <cp:revision>20</cp:revision>
  <dcterms:created xsi:type="dcterms:W3CDTF">2021-10-18T00:47:23Z</dcterms:created>
  <dcterms:modified xsi:type="dcterms:W3CDTF">2023-03-20T03:28:12Z</dcterms:modified>
</cp:coreProperties>
</file>